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Opening: name the audience explicitly — meta-science / science-integrity groups, not general investors.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 slide — leave contact/repo pointer to the resolved GitHub token.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hyperlink" Target="https://github.com/docxology/template/blob/main/projects/templates/template_pitch_deck/output/slides_standalone/template_template_long/slide_01.md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github.com/docxology/template/blob/main/projects/templates/template_pitch_deck/output/slides_standalone/template_template_long/slide_02.md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hyperlink" Target="https://github.com/docxology/template/blob/main/projects/templates/template_pitch_deck/output/slides_standalone/template_template_long/slide_03.md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hyperlink" Target="https://github.com/docxology/template/blob/main/projects/templates/template_pitch_deck/output/slides_standalone/template_template_long/slide_04.md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hyperlink" Target="https://github.com/docxology/template/blob/main/projects/templates/template_pitch_deck/output/slides_standalone/template_template_long/slide_05.md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hyperlink" Target="https://github.com/docxology/template/blob/main/projects/templates/template_pitch_deck/output/slides_standalone/template_template_long/slide_06.md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docxology/template/blob/main/infrastructure/project/public_scope.py" TargetMode="External"/><Relationship Id="rId3" Type="http://schemas.openxmlformats.org/officeDocument/2006/relationships/image" Target="../media/image7.png"/><Relationship Id="rId4" Type="http://schemas.openxmlformats.org/officeDocument/2006/relationships/hyperlink" Target="https://github.com/docxology/template/blob/main/projects/templates/template_pitch_deck/output/slides_standalone/template_template_long/slide_07.md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docxology/template/blob/main/projects/templates/template_template/README.md" TargetMode="External"/><Relationship Id="rId3" Type="http://schemas.openxmlformats.org/officeDocument/2006/relationships/image" Target="../media/image8.png"/><Relationship Id="rId4" Type="http://schemas.openxmlformats.org/officeDocument/2006/relationships/hyperlink" Target="https://github.com/docxology/template/blob/main/projects/templates/template_pitch_deck/output/slides_standalone/template_template_long/slide_08.md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hyperlink" Target="https://github.com/docxology/template/blob/main/projects/templates/template_pitch_deck/output/slides_standalone/template_template_long/slide_09.md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hyperlink" Target="https://github.com/docxology/template/blob/main/projects/templates/template_pitch_deck/output/slides_standalone/template_template_long/slide_10.md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hyperlink" Target="https://github.com/docxology/template/blob/main/projects/templates/template_pitch_deck/output/slides_standalone/template_template_long/slide_11.md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hyperlink" Target="https://github.com/docxology/template/blob/main/projects/templates/template_pitch_deck/output/slides_standalone/template_template_long/slide_12.md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hyperlink" Target="https://github.com/docxology/template/blob/main/projects/templates/template_pitch_deck/output/slides_standalone/template_template_long/slide_13.md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hyperlink" Target="https://github.com/docxology/template/blob/main/CLAUDE.md" TargetMode="External"/><Relationship Id="rId4" Type="http://schemas.openxmlformats.org/officeDocument/2006/relationships/image" Target="../media/image15.png"/><Relationship Id="rId5" Type="http://schemas.openxmlformats.org/officeDocument/2006/relationships/hyperlink" Target="https://github.com/docxology/template/blob/main/projects/templates/template_pitch_deck/output/slides_standalone/template_template_long/slide_14.md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hyperlink" Target="https://github.com/docxology/template/blob/main/CLAUDE.md" TargetMode="External"/><Relationship Id="rId4" Type="http://schemas.openxmlformats.org/officeDocument/2006/relationships/image" Target="../media/image17.png"/><Relationship Id="rId5" Type="http://schemas.openxmlformats.org/officeDocument/2006/relationships/hyperlink" Target="https://github.com/docxology/template/blob/main/projects/templates/template_pitch_deck/output/slides_standalone/template_template_long/slide_15.md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hyperlink" Target="https://github.com/docxology/template/blob/main/projects/templates/template_pitch_deck/output/slides_standalone/template_template_long/slide_16.md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hyperlink" Target="https://github.com/docxology/template/blob/main/projects/templates/template_pitch_deck/output/slides_standalone/template_template_long/slide_17.md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docxology/template/blob/main/projects/templates/template_template/src/template_template" TargetMode="External"/><Relationship Id="rId3" Type="http://schemas.openxmlformats.org/officeDocument/2006/relationships/image" Target="../media/image20.png"/><Relationship Id="rId4" Type="http://schemas.openxmlformats.org/officeDocument/2006/relationships/hyperlink" Target="https://github.com/docxology/template/blob/main/projects/templates/template_pitch_deck/output/slides_standalone/template_template_long/slide_18.md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hyperlink" Target="https://github.com/docxology/template/blob/main/projects/templates/template_pitch_deck/output/slides_standalone/template_template_long/slide_19.md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hyperlink" Target="https://github.com/docxology/template/blob/main/projects/templates/template_pitch_deck/output/slides_standalone/template_template_long/slide_20.md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docxology/template/blob/main/docs/_generated/COUNTS.md" TargetMode="External"/><Relationship Id="rId3" Type="http://schemas.openxmlformats.org/officeDocument/2006/relationships/image" Target="../media/image23.png"/><Relationship Id="rId4" Type="http://schemas.openxmlformats.org/officeDocument/2006/relationships/hyperlink" Target="https://github.com/docxology/template/blob/main/projects/templates/template_pitch_deck/output/slides_standalone/template_template_long/slide_21.md" TargetMode="Externa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docxology/template/blob/main/projects/templates/template_template/manuscript/config.yaml" TargetMode="External"/><Relationship Id="rId3" Type="http://schemas.openxmlformats.org/officeDocument/2006/relationships/image" Target="../media/image24.png"/><Relationship Id="rId4" Type="http://schemas.openxmlformats.org/officeDocument/2006/relationships/hyperlink" Target="https://github.com/docxology/template/blob/main/projects/templates/template_pitch_deck/output/slides_standalone/template_template_long/slide_22.md" TargetMode="Externa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docxology/template/blob/main/projects/templates/template_pitch_deck/src/deck_tokens.py" TargetMode="External"/><Relationship Id="rId3" Type="http://schemas.openxmlformats.org/officeDocument/2006/relationships/image" Target="../media/image25.png"/><Relationship Id="rId4" Type="http://schemas.openxmlformats.org/officeDocument/2006/relationships/hyperlink" Target="https://github.com/docxology/template/blob/main/projects/templates/template_pitch_deck/output/slides_standalone/template_template_long/slide_23.md" TargetMode="Externa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hyperlink" Target="https://github.com/docxology/template/blob/main/projects/templates/template_pitch_deck/output/slides_standalone/template_template_long/slide_24.md" TargetMode="Externa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docxology/template/blob/main/docs/_generated/active_projects.md" TargetMode="External"/><Relationship Id="rId3" Type="http://schemas.openxmlformats.org/officeDocument/2006/relationships/image" Target="../media/image27.png"/><Relationship Id="rId4" Type="http://schemas.openxmlformats.org/officeDocument/2006/relationships/hyperlink" Target="https://github.com/docxology/template/blob/main/projects/templates/template_pitch_deck/output/slides_standalone/template_template_long/slide_25.md" TargetMode="Externa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hyperlink" Target="https://github.com/docxology/template/blob/main/projects/templates/template_pitch_deck/output/slides_standalone/template_template_long/slide_26.md" TargetMode="Externa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hyperlink" Target="https://github.com/docxology/template/blob/main/projects/templates/template_pitch_deck/output/slides_standalone/template_template_long/slide_27.md" TargetMode="Externa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hyperlink" Target="https://github.com/docxology/template/blob/main/projects/templates/template_pitch_deck/output/slides_standalone/template_template_long/slide_28.md" TargetMode="Externa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hyperlink" Target="https://github.com/docxology/template/blob/main/projects/templates/template_pitch_deck/output/slides_standalone/template_template_long/slide_29.md" TargetMode="Externa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hyperlink" Target="https://github.com/docxology/template/blob/main/projects/templates/template_pitch_deck/output/slides_standalone/template_template_long/slide_30.md" TargetMode="Externa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hyperlink" Target="https://github.com/docxology/template/blob/main/projects/templates/template_pitch_deck/output/slides_standalone/template_template_long/slide_31.md" TargetMode="Externa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hyperlink" Target="https://github.com/docxology/template/blob/main/projects/templates/template_pitch_deck/output/slides_standalone/template_template_long/slide_32.md" TargetMode="Externa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hyperlink" Target="https://github.com/docxology/template/blob/main/projects/templates/template_pitch_deck/output/slides_standalone/template_template_long/slide_33.md" TargetMode="Externa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docxology/template/blob/main/tests/infra_tests/rendering/test_slide_deck.py" TargetMode="External"/><Relationship Id="rId3" Type="http://schemas.openxmlformats.org/officeDocument/2006/relationships/image" Target="../media/image36.png"/><Relationship Id="rId4" Type="http://schemas.openxmlformats.org/officeDocument/2006/relationships/hyperlink" Target="https://github.com/docxology/template/blob/main/projects/templates/template_pitch_deck/output/slides_standalone/template_template_long/slide_34.md" TargetMode="Externa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docxology/template/blob/main/projects/templates/template_pitch_deck/src/token_resolution.py" TargetMode="External"/><Relationship Id="rId3" Type="http://schemas.openxmlformats.org/officeDocument/2006/relationships/image" Target="../media/image37.png"/><Relationship Id="rId4" Type="http://schemas.openxmlformats.org/officeDocument/2006/relationships/hyperlink" Target="https://github.com/docxology/template/blob/main/projects/templates/template_pitch_deck/output/slides_standalone/template_template_long/slide_35.md" TargetMode="Externa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docxology/template/blob/main/projects/templates/template_pitch_deck/src/diligence_audit.py" TargetMode="External"/><Relationship Id="rId3" Type="http://schemas.openxmlformats.org/officeDocument/2006/relationships/image" Target="../media/image38.png"/><Relationship Id="rId4" Type="http://schemas.openxmlformats.org/officeDocument/2006/relationships/hyperlink" Target="https://github.com/docxology/template/blob/main/projects/templates/template_pitch_deck/output/slides_standalone/template_template_long/slide_36.md" TargetMode="Externa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docxology/template/blob/main/projects/templates/template_pitch_deck/scripts/10_audit_deck_content.py" TargetMode="External"/><Relationship Id="rId3" Type="http://schemas.openxmlformats.org/officeDocument/2006/relationships/image" Target="../media/image39.png"/><Relationship Id="rId4" Type="http://schemas.openxmlformats.org/officeDocument/2006/relationships/hyperlink" Target="https://github.com/docxology/template/blob/main/projects/templates/template_pitch_deck/output/slides_standalone/template_template_long/slide_37.md" TargetMode="Externa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docxology/template/blob/main/docs/_generated/COUNTS.md" TargetMode="External"/><Relationship Id="rId3" Type="http://schemas.openxmlformats.org/officeDocument/2006/relationships/image" Target="../media/image40.png"/><Relationship Id="rId4" Type="http://schemas.openxmlformats.org/officeDocument/2006/relationships/hyperlink" Target="https://github.com/docxology/template/blob/main/projects/templates/template_pitch_deck/output/slides_standalone/template_template_long/slide_38.md" TargetMode="Externa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hyperlink" Target="https://github.com/docxology/template/blob/main/docs/_generated/COUNTS.md" TargetMode="External"/><Relationship Id="rId4" Type="http://schemas.openxmlformats.org/officeDocument/2006/relationships/image" Target="../media/image42.png"/><Relationship Id="rId5" Type="http://schemas.openxmlformats.org/officeDocument/2006/relationships/hyperlink" Target="https://github.com/docxology/template/blob/main/projects/templates/template_pitch_deck/output/slides_standalone/template_template_long/slide_39.md" TargetMode="Externa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hyperlink" Target="https://github.com/docxology/template/blob/main/docs/_generated/COUNTS.md" TargetMode="External"/><Relationship Id="rId4" Type="http://schemas.openxmlformats.org/officeDocument/2006/relationships/image" Target="../media/image44.png"/><Relationship Id="rId5" Type="http://schemas.openxmlformats.org/officeDocument/2006/relationships/hyperlink" Target="https://github.com/docxology/template/blob/main/projects/templates/template_pitch_deck/output/slides_standalone/template_template_long/slide_40.md" TargetMode="Externa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docxology/template/blob/main/projects/templates/template_pitch_deck/src/diligence_audit.py" TargetMode="External"/><Relationship Id="rId3" Type="http://schemas.openxmlformats.org/officeDocument/2006/relationships/image" Target="../media/image45.png"/><Relationship Id="rId4" Type="http://schemas.openxmlformats.org/officeDocument/2006/relationships/hyperlink" Target="https://github.com/docxology/template/blob/main/projects/templates/template_pitch_deck/output/slides_standalone/template_template_long/slide_41.md" TargetMode="Externa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docxology/template/blob/main/projects/templates/template_pitch_deck/src/standalone_slides.py" TargetMode="External"/><Relationship Id="rId3" Type="http://schemas.openxmlformats.org/officeDocument/2006/relationships/image" Target="../media/image46.png"/><Relationship Id="rId4" Type="http://schemas.openxmlformats.org/officeDocument/2006/relationships/hyperlink" Target="https://github.com/docxology/template/blob/main/projects/templates/template_pitch_deck/output/slides_standalone/template_template_long/slide_42.md" TargetMode="Externa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docxology/template/blob/main/projects/templates/template_pitch_deck/manuscript/config.yaml" TargetMode="External"/><Relationship Id="rId3" Type="http://schemas.openxmlformats.org/officeDocument/2006/relationships/image" Target="../media/image47.png"/><Relationship Id="rId4" Type="http://schemas.openxmlformats.org/officeDocument/2006/relationships/hyperlink" Target="https://github.com/docxology/template/blob/main/projects/templates/template_pitch_deck/output/slides_standalone/template_template_long/slide_43.md" TargetMode="Externa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Relationship Id="rId3" Type="http://schemas.openxmlformats.org/officeDocument/2006/relationships/hyperlink" Target="https://github.com/docxology/template/blob/main/projects/templates/template_pitch_deck/output/slides_standalone/template_template_long/slide_44.md" TargetMode="Externa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docxology/template/blob/main/projects/templates/template_pitch_deck/src/infra_facts.py" TargetMode="External"/><Relationship Id="rId3" Type="http://schemas.openxmlformats.org/officeDocument/2006/relationships/image" Target="../media/image49.png"/><Relationship Id="rId4" Type="http://schemas.openxmlformats.org/officeDocument/2006/relationships/hyperlink" Target="https://github.com/docxology/template/blob/main/projects/templates/template_pitch_deck/output/slides_standalone/template_template_long/slide_45.md" TargetMode="Externa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Relationship Id="rId3" Type="http://schemas.openxmlformats.org/officeDocument/2006/relationships/hyperlink" Target="https://github.com/docxology/template/blob/main/projects/templates/template_pitch_deck/src/infra_facts.py" TargetMode="External"/><Relationship Id="rId4" Type="http://schemas.openxmlformats.org/officeDocument/2006/relationships/image" Target="../media/image51.png"/><Relationship Id="rId5" Type="http://schemas.openxmlformats.org/officeDocument/2006/relationships/hyperlink" Target="https://github.com/docxology/template/blob/main/projects/templates/template_pitch_deck/output/slides_standalone/template_template_long/slide_46.md" TargetMode="Externa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Relationship Id="rId3" Type="http://schemas.openxmlformats.org/officeDocument/2006/relationships/hyperlink" Target="https://github.com/docxology/template/blob/main/projects/templates/template_pitch_deck/output/slides_standalone/template_template_long/slide_47.md" TargetMode="Externa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Relationship Id="rId3" Type="http://schemas.openxmlformats.org/officeDocument/2006/relationships/hyperlink" Target="https://github.com/docxology/template/blob/main/projects/templates/template_pitch_deck/output/slides_standalone/template_template_long/slide_48.md" TargetMode="Externa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Relationship Id="rId3" Type="http://schemas.openxmlformats.org/officeDocument/2006/relationships/hyperlink" Target="https://github.com/docxology/template/blob/main/projects/templates/template_pitch_deck/output/slides_standalone/template_template_long/slide_49.md" TargetMode="Externa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Relationship Id="rId3" Type="http://schemas.openxmlformats.org/officeDocument/2006/relationships/hyperlink" Target="https://github.com/docxology/template/blob/main/projects/templates/template_pitch_deck/output/slides_standalone/template_template_long/slide_50.md" TargetMode="Externa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Relationship Id="rId3" Type="http://schemas.openxmlformats.org/officeDocument/2006/relationships/hyperlink" Target="https://github.com/docxology/template/blob/main/projects/templates/template_pitch_deck/output/slides_standalone/template_template_long/slide_51.md" TargetMode="Externa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Relationship Id="rId3" Type="http://schemas.openxmlformats.org/officeDocument/2006/relationships/hyperlink" Target="https://github.com/docxology/template/blob/main/projects/templates/template_pitch_deck/output/slides_standalone/template_template_long/slide_52.md" TargetMode="Externa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Relationship Id="rId3" Type="http://schemas.openxmlformats.org/officeDocument/2006/relationships/hyperlink" Target="https://github.com/docxology/template/blob/main/projects/templates/template_pitch_deck/output/slides_standalone/template_template_long/slide_53.md" TargetMode="Externa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Relationship Id="rId3" Type="http://schemas.openxmlformats.org/officeDocument/2006/relationships/hyperlink" Target="https://github.com/docxology/template/blob/main/projects/templates/template_pitch_deck/output/slides_standalone/template_template_long/slide_54.md" TargetMode="Externa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docxology/template/blob/main/projects/templates/template_template/manuscript/config.yaml" TargetMode="External"/><Relationship Id="rId3" Type="http://schemas.openxmlformats.org/officeDocument/2006/relationships/image" Target="../media/image60.png"/><Relationship Id="rId4" Type="http://schemas.openxmlformats.org/officeDocument/2006/relationships/hyperlink" Target="https://github.com/docxology/template/blob/main/projects/templates/template_pitch_deck/output/slides_standalone/template_template_long/slide_55.md" TargetMode="Externa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1.png"/><Relationship Id="rId4" Type="http://schemas.openxmlformats.org/officeDocument/2006/relationships/hyperlink" Target="https://github.com/docxology/template/blob/main/projects/templates/template_pitch_deck/output/slides_standalone/template_template_long/slide_56.md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554480"/>
            <a:ext cx="109728" cy="1737360"/>
          </a:xfrm>
          <a:prstGeom prst="rect">
            <a:avLst/>
          </a:prstGeom>
          <a:solidFill>
            <a:srgbClr val="B3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81381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A template/ approach to Reproducible Generative 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0"/>
            <a:ext cx="8138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C9C9C9"/>
                </a:solidFill>
              </a:rPr>
              <a:t>Research infrastructure that documents itself — a case study for meta-science and science-integrity teams</a:t>
            </a:r>
          </a:p>
        </p:txBody>
      </p:sp>
      <p:pic>
        <p:nvPicPr>
          <p:cNvPr id="6" name="Picture 5" descr="image.png">
            <a:hlinkClick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/>
          <a:lstStyle/>
          <a:p>
            <a:pPr algn="ctr"/>
            <a:r>
              <a:rPr sz="2400" b="1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8138160" cy="3771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Research groups publish claims about their own tools and pipelines that no one outside the team can re-check.</a:t>
            </a:r>
          </a:p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Manuscripts describing infrastructure go stale the moment the infrastructure changes underneath them.</a:t>
            </a:r>
          </a:p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Reproducibility efforts usually stop at the data and code layer — the documentation layer is still hand-maintained and drifts silently.</a:t>
            </a:r>
          </a:p>
        </p:txBody>
      </p:sp>
      <p:pic>
        <p:nvPicPr>
          <p:cNvPr id="5" name="Picture 4" descr="image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Why this is a science-integrity problem, not just a tooling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8138160" cy="3771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A stale claim about infrastructure is a form of unverified evidence, structurally similar to an uncheckable statistic in a results section.</a:t>
            </a:r>
          </a:p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Peer review rarely re-derives a paper's own infrastructure description; it is trusted by default.</a:t>
            </a:r>
          </a:p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Meta-science groups exist precisely to close gaps like this — this deck is itself an instance of the pattern it is describing.</a:t>
            </a:r>
          </a:p>
        </p:txBody>
      </p:sp>
      <p:pic>
        <p:nvPicPr>
          <p:cNvPr id="5" name="Picture 4" descr="image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514600"/>
            <a:ext cx="8138160" cy="38100"/>
          </a:xfrm>
          <a:prstGeom prst="rect">
            <a:avLst/>
          </a:prstGeom>
          <a:solidFill>
            <a:srgbClr val="B3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03120"/>
            <a:ext cx="8138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1">
                <a:solidFill>
                  <a:srgbClr val="0A0A0A"/>
                </a:solidFill>
              </a:rPr>
              <a:t>Landscape</a:t>
            </a:r>
          </a:p>
        </p:txBody>
      </p:sp>
      <p:pic>
        <p:nvPicPr>
          <p:cNvPr id="5" name="Picture 4" descr="image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/>
          <a:lstStyle/>
          <a:p>
            <a:pPr algn="ctr"/>
            <a:r>
              <a:rPr sz="2400" b="1">
                <a:solidFill>
                  <a:srgbClr val="FFFFFF"/>
                </a:solidFill>
              </a:rPr>
              <a:t>Where meta-science tooling stands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8138160" cy="3771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Electronic lab notebooks and preregistration platforms address the experiment layer, not the infrastructure-description layer.</a:t>
            </a:r>
          </a:p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Literate-programming tools (R Markdown, Jupyter, Quarto) bind prose to code within one document, but rarely to a whole repository's live state.</a:t>
            </a:r>
          </a:p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Very few public examples exist of a manuscript that introspects and reports on the software system that produced it, at repository scale.</a:t>
            </a:r>
          </a:p>
        </p:txBody>
      </p:sp>
      <p:pic>
        <p:nvPicPr>
          <p:cNvPr id="5" name="Picture 4" descr="image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/>
          <a:lstStyle/>
          <a:p>
            <a:pPr algn="ctr"/>
            <a:r>
              <a:rPr sz="2400" b="1">
                <a:solidFill>
                  <a:srgbClr val="FFFFFF"/>
                </a:solidFill>
              </a:rPr>
              <a:t>Adjacent practice this builds 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8138160" cy="3771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Ten Simple Rules for Reproducible Computational Research (Sandve et al., 2013) — the base discipline of tracking exactly what produced each result.</a:t>
            </a:r>
          </a:p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Good Enough Practices in Scientific Computing (Wilson et al., 2017) — version control, testing, and modular code as baseline hygiene.</a:t>
            </a:r>
          </a:p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FAIR principles for research software (Lamprecht et al., 2020) — Findable, Accessible, Interoperable, Reusable, extended here to the manuscript layer itself.</a:t>
            </a:r>
          </a:p>
        </p:txBody>
      </p:sp>
      <p:pic>
        <p:nvPicPr>
          <p:cNvPr id="5" name="Picture 4" descr="image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/>
          <a:lstStyle/>
          <a:p>
            <a:pPr algn="ctr"/>
            <a:r>
              <a:rPr sz="2400" b="1">
                <a:solidFill>
                  <a:srgbClr val="FFFFFF"/>
                </a:solidFill>
              </a:rPr>
              <a:t>What template_template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8138160" cy="3771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A manuscript that is generated FROM the repository it describes, not written ABOUT it from memory.</a:t>
            </a:r>
          </a:p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Every metric in the paper — module counts, test counts, pipeline stages — is computed live by template_template's own introspection code.</a:t>
            </a:r>
          </a:p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One of 20 public exemplar templates in the same monorepo, each independently tested and coverage-gated.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234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8F99"/>
                </a:solidFill>
                <a:hlinkClick r:id="rId2"/>
              </a:rPr>
              <a:t>Source: infrastructure/project/public_scope.py</a:t>
            </a:r>
          </a:p>
        </p:txBody>
      </p:sp>
      <p:pic>
        <p:nvPicPr>
          <p:cNvPr id="6" name="Picture 5" descr="image.png">
            <a:hlinkClick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554480"/>
            <a:ext cx="502920" cy="76200"/>
          </a:xfrm>
          <a:prstGeom prst="rect">
            <a:avLst/>
          </a:prstGeom>
          <a:solidFill>
            <a:srgbClr val="B3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783080"/>
            <a:ext cx="8138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i="1">
                <a:solidFill>
                  <a:srgbClr val="FFFFFF"/>
                </a:solidFill>
              </a:rPr>
              <a:t>“Autopoietic: the paper regenerates itself from the code it describes.”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474720"/>
            <a:ext cx="8138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3131A"/>
                </a:solidFill>
              </a:rPr>
              <a:t>— template_template/README.md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8234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8F99"/>
                </a:solidFill>
                <a:hlinkClick r:id="rId2"/>
              </a:rPr>
              <a:t>Source: projects/templates/template_template/README.md</a:t>
            </a:r>
          </a:p>
        </p:txBody>
      </p:sp>
      <p:pic>
        <p:nvPicPr>
          <p:cNvPr id="7" name="Picture 6" descr="image.png">
            <a:hlinkClick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514600"/>
            <a:ext cx="8138160" cy="38100"/>
          </a:xfrm>
          <a:prstGeom prst="rect">
            <a:avLst/>
          </a:prstGeom>
          <a:solidFill>
            <a:srgbClr val="B3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03120"/>
            <a:ext cx="8138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1">
                <a:solidFill>
                  <a:srgbClr val="0A0A0A"/>
                </a:solidFill>
              </a:rPr>
              <a:t>How it works</a:t>
            </a:r>
          </a:p>
        </p:txBody>
      </p:sp>
      <p:pic>
        <p:nvPicPr>
          <p:cNvPr id="5" name="Picture 4" descr="image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/>
          <a:lstStyle/>
          <a:p>
            <a:pPr algn="ctr"/>
            <a:r>
              <a:rPr sz="2400" b="1">
                <a:solidFill>
                  <a:srgbClr val="FFFFFF"/>
                </a:solidFill>
              </a:rPr>
              <a:t>Introspection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8138160" cy="3771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src/template_template/introspection.py discovers infrastructure/ subpackages, the pipeline.yaml stage DAG, and the public exemplar roster.</a:t>
            </a:r>
          </a:p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The scan reads the filesystem and YAML directly — it does not depend on any external service or cached snapshot.</a:t>
            </a:r>
          </a:p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Function-level entry points (discover_infrastructure_modules, discover_projects, load_pipeline_stages_from_yaml) each return typed, testable dataclasses.</a:t>
            </a:r>
          </a:p>
        </p:txBody>
      </p:sp>
      <p:pic>
        <p:nvPicPr>
          <p:cNvPr id="5" name="Picture 4" descr="image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/>
          <a:lstStyle/>
          <a:p>
            <a:pPr algn="ctr"/>
            <a:r>
              <a:rPr sz="2400" b="1">
                <a:solidFill>
                  <a:srgbClr val="FFFFFF"/>
                </a:solidFill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8138160" cy="3771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metrics.py turns the introspection scan into a dictionary of ${variable} values — the same token convention used across every exemplar's manuscript.</a:t>
            </a:r>
          </a:p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build_manuscript_metrics_dict computes counts directly; nothing is copy-pasted from a prior run.</a:t>
            </a:r>
          </a:p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save_metrics_json persists the full dictionary to output/data/metrics.json for downstream inspection.</a:t>
            </a:r>
          </a:p>
        </p:txBody>
      </p:sp>
      <p:pic>
        <p:nvPicPr>
          <p:cNvPr id="5" name="Picture 4" descr="image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/>
          <a:lstStyle/>
          <a:p>
            <a:pPr algn="ctr"/>
            <a:r>
              <a:rPr sz="2400" b="1">
                <a:solidFill>
                  <a:srgbClr val="FFFFFF"/>
                </a:solidFill>
              </a:rPr>
              <a:t>Injection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8138160" cy="3771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inject_metrics.py substitutes ${variable} values into manuscript/*.md, writing the resolved text to output/manuscript/ for rendering.</a:t>
            </a:r>
          </a:p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Unresolved tokens are never silently dropped — a missing variable is a build failure, not a blank space in the PDF.</a:t>
            </a:r>
          </a:p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Re-running the pipeline regenerates the paper from current repository state — the citation and the artifact cannot drift apart.</a:t>
            </a:r>
          </a:p>
        </p:txBody>
      </p:sp>
      <p:pic>
        <p:nvPicPr>
          <p:cNvPr id="5" name="Picture 4" descr="image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/>
          <a:lstStyle/>
          <a:p>
            <a:pPr algn="ctr"/>
            <a:r>
              <a:rPr sz="2400" b="1">
                <a:solidFill>
                  <a:srgbClr val="FFFFFF"/>
                </a:solidFill>
              </a:rPr>
              <a:t>Visualization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8138160" cy="3771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Four figures — architecture overview, pipeline stages, module inventory, comparative feature matrix — are generated from the same live data, not hand-drawn.</a:t>
            </a:r>
          </a:p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generate_architecture_viz.py orchestrates dedicated figure modules sharing one palette module, so the visual language stays consistent across all four.</a:t>
            </a:r>
          </a:p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Regenerating figures after a code change is one script call, not a redraw in an external tool.</a:t>
            </a:r>
          </a:p>
        </p:txBody>
      </p:sp>
      <p:pic>
        <p:nvPicPr>
          <p:cNvPr id="5" name="Picture 4" descr="image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/>
          <a:lstStyle/>
          <a:p>
            <a:pPr algn="ctr"/>
            <a:r>
              <a:rPr sz="2200" b="1">
                <a:solidFill>
                  <a:srgbClr val="FFFFFF"/>
                </a:solidFill>
              </a:rPr>
              <a:t>Two-layer architecture, at a glance</a:t>
            </a:r>
          </a:p>
        </p:txBody>
      </p:sp>
      <p:pic>
        <p:nvPicPr>
          <p:cNvPr id="4" name="Picture 3" descr="two_layer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83661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48234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8F99"/>
                </a:solidFill>
                <a:hlinkClick r:id="rId3"/>
              </a:rPr>
              <a:t>Source: CLAUDE.md</a:t>
            </a:r>
          </a:p>
        </p:txBody>
      </p:sp>
      <p:pic>
        <p:nvPicPr>
          <p:cNvPr id="6" name="Picture 5" descr="image.png">
            <a:hlinkClick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/>
          <a:lstStyle/>
          <a:p>
            <a:pPr algn="ctr"/>
            <a:r>
              <a:rPr sz="2200" b="1">
                <a:solidFill>
                  <a:srgbClr val="FFFFFF"/>
                </a:solidFill>
              </a:rPr>
              <a:t>The core pipeline, stage by stage</a:t>
            </a:r>
          </a:p>
        </p:txBody>
      </p:sp>
      <p:pic>
        <p:nvPicPr>
          <p:cNvPr id="4" name="Picture 3" descr="pipeline_sta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206399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48234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8F99"/>
                </a:solidFill>
                <a:hlinkClick r:id="rId3"/>
              </a:rPr>
              <a:t>Source: CLAUDE.md</a:t>
            </a:r>
          </a:p>
        </p:txBody>
      </p:sp>
      <p:pic>
        <p:nvPicPr>
          <p:cNvPr id="6" name="Picture 5" descr="image.png">
            <a:hlinkClick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514600"/>
            <a:ext cx="8138160" cy="38100"/>
          </a:xfrm>
          <a:prstGeom prst="rect">
            <a:avLst/>
          </a:prstGeom>
          <a:solidFill>
            <a:srgbClr val="B3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03120"/>
            <a:ext cx="8138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1">
                <a:solidFill>
                  <a:srgbClr val="0A0A0A"/>
                </a:solidFill>
              </a:rPr>
              <a:t>Two-layer architecture, in depth</a:t>
            </a:r>
          </a:p>
        </p:txBody>
      </p:sp>
      <p:pic>
        <p:nvPicPr>
          <p:cNvPr id="5" name="Picture 4" descr="image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/>
          <a:lstStyle/>
          <a:p>
            <a:pPr algn="ctr"/>
            <a:r>
              <a:rPr sz="2400" b="1">
                <a:solidFill>
                  <a:srgbClr val="FFFFFF"/>
                </a:solidFill>
              </a:rPr>
              <a:t>Layer 1 — infrastructure/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8138160" cy="3771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Generic, reusable modules: rendering (PDF/HTML/PPTX/DOCX/EPUB), validation, publishing, provenance, security.</a:t>
            </a:r>
          </a:p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No project-specific logic lives here — a change to infrastructure/ affects every exemplar identically.</a:t>
            </a:r>
          </a:p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This deck's own PDF/PPTX renderers (infrastructure/rendering/slide_deck.py, pptx_deck.py) are new additions to this same layer.</a:t>
            </a:r>
          </a:p>
        </p:txBody>
      </p:sp>
      <p:pic>
        <p:nvPicPr>
          <p:cNvPr id="5" name="Picture 4" descr="image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/>
          <a:lstStyle/>
          <a:p>
            <a:pPr algn="ctr"/>
            <a:r>
              <a:rPr sz="2400" b="1">
                <a:solidFill>
                  <a:srgbClr val="FFFFFF"/>
                </a:solidFill>
              </a:rPr>
              <a:t>Layer 2 — projects/{name}/src/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8138160" cy="3771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Each exemplar's own domain logic: template_template's introspection/metrics, a code-project's optimizer, this deck's own content loader and token/cliche validators.</a:t>
            </a:r>
          </a:p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Kept out of infrastructure/ by convention, enforced by an automated project/infrastructure-boundary drift check.</a:t>
            </a:r>
          </a:p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Thin orchestrator scripts (projects/{name}/scripts/) coordinate the two layers but implement no business logic themselves — a size/complexity gate enforces this directly.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234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8F99"/>
                </a:solidFill>
                <a:hlinkClick r:id="rId2"/>
              </a:rPr>
              <a:t>Source: projects/templates/template_template/src/template_template</a:t>
            </a:r>
          </a:p>
        </p:txBody>
      </p:sp>
      <p:pic>
        <p:nvPicPr>
          <p:cNvPr id="6" name="Picture 5" descr="image.png">
            <a:hlinkClick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/>
          <a:lstStyle/>
          <a:p>
            <a:pPr algn="ctr"/>
            <a:r>
              <a:rPr sz="2400" b="1">
                <a:solidFill>
                  <a:srgbClr val="FFFFFF"/>
                </a:solidFill>
              </a:rPr>
              <a:t>Testing discipline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8138160" cy="3771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No mocks, anywhere: tests use real files, real YAML, real rendered output — never unittest.mock or MagicMock.</a:t>
            </a:r>
          </a:p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90% coverage floor on every exemplar's own src/; 60% floor on shared infrastructure/.</a:t>
            </a:r>
          </a:p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A project fails its own gate the same way regardless of which exemplar it is — there is no per-project exception without an explicit, documented reason.</a:t>
            </a:r>
          </a:p>
        </p:txBody>
      </p:sp>
      <p:pic>
        <p:nvPicPr>
          <p:cNvPr id="5" name="Picture 4" descr="image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514600"/>
            <a:ext cx="8138160" cy="38100"/>
          </a:xfrm>
          <a:prstGeom prst="rect">
            <a:avLst/>
          </a:prstGeom>
          <a:solidFill>
            <a:srgbClr val="B3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03120"/>
            <a:ext cx="8138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1">
                <a:solidFill>
                  <a:srgbClr val="0A0A0A"/>
                </a:solidFill>
              </a:rPr>
              <a:t>Proof, not adjectives</a:t>
            </a:r>
          </a:p>
        </p:txBody>
      </p:sp>
      <p:pic>
        <p:nvPicPr>
          <p:cNvPr id="5" name="Picture 4" descr="image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8138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A0A0A"/>
                </a:solidFill>
              </a:rPr>
              <a:t>Measured, not asserted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45920"/>
            <a:ext cx="81381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800" b="1">
                <a:solidFill>
                  <a:srgbClr val="B3131A"/>
                </a:solidFill>
              </a:rPr>
              <a:t>130 tests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063240"/>
            <a:ext cx="8138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0A0A0A"/>
                </a:solidFill>
              </a:rPr>
              <a:t>99.37% coverage on template_template's own source — the same gate every exemplar in the repo must pass. No partial-credit reporting path exists.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8234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8F99"/>
                </a:solidFill>
                <a:hlinkClick r:id="rId2"/>
              </a:rPr>
              <a:t>Source: docs/_generated/COUNTS.md</a:t>
            </a:r>
          </a:p>
        </p:txBody>
      </p:sp>
      <p:pic>
        <p:nvPicPr>
          <p:cNvPr id="7" name="Picture 6" descr="image.png">
            <a:hlinkClick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8138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A0A0A"/>
                </a:solidFill>
              </a:rPr>
              <a:t>Already public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45920"/>
            <a:ext cx="81381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800" b="1">
                <a:solidFill>
                  <a:srgbClr val="B3131A"/>
                </a:solidFill>
              </a:rPr>
              <a:t>9 platforms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063240"/>
            <a:ext cx="8138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0A0A0A"/>
                </a:solidFill>
              </a:rPr>
              <a:t>Durable publication records already on file (concept DOI 10.5281/zenodo.20419007): Zenodo, GitHub, PyPI (sandbox), IPFS, Software Heritage, GitHub Pages, Netlify, Hugging Face, OSF. Licensed Apache-2.0.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8234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8F99"/>
                </a:solidFill>
                <a:hlinkClick r:id="rId2"/>
              </a:rPr>
              <a:t>Source: projects/templates/template_template/manuscript/config.yaml</a:t>
            </a:r>
          </a:p>
        </p:txBody>
      </p:sp>
      <p:pic>
        <p:nvPicPr>
          <p:cNvPr id="7" name="Picture 6" descr="image.png">
            <a:hlinkClick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/>
          <a:lstStyle/>
          <a:p>
            <a:pPr algn="ctr"/>
            <a:r>
              <a:rPr sz="2400" b="1">
                <a:solidFill>
                  <a:srgbClr val="FFFFFF"/>
                </a:solidFill>
              </a:rPr>
              <a:t>This deck is an instance of the same claim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8138160" cy="3771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Every number on the previous two slides was read live from template_template's own manuscript/config.yaml and this monorepo's generated coverage report — not typed into this YAML file by hand.</a:t>
            </a:r>
          </a:p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src/deck_tokens.py::build_deck_tokens is the function that did the reading; you can run it yourself and get the same numbers.</a:t>
            </a:r>
          </a:p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A token-resolution audit fails this deck's own build if any of these values ever go missing.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234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8F99"/>
                </a:solidFill>
                <a:hlinkClick r:id="rId2"/>
              </a:rPr>
              <a:t>Source: projects/templates/template_pitch_deck/src/deck_tokens.py</a:t>
            </a:r>
          </a:p>
        </p:txBody>
      </p:sp>
      <p:pic>
        <p:nvPicPr>
          <p:cNvPr id="6" name="Picture 5" descr="image.png">
            <a:hlinkClick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514600"/>
            <a:ext cx="8138160" cy="38100"/>
          </a:xfrm>
          <a:prstGeom prst="rect">
            <a:avLst/>
          </a:prstGeom>
          <a:solidFill>
            <a:srgbClr val="B3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03120"/>
            <a:ext cx="8138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1">
                <a:solidFill>
                  <a:srgbClr val="0A0A0A"/>
                </a:solidFill>
              </a:rPr>
              <a:t>The pattern generalizes</a:t>
            </a:r>
          </a:p>
        </p:txBody>
      </p:sp>
      <p:pic>
        <p:nvPicPr>
          <p:cNvPr id="5" name="Picture 4" descr="image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/>
          <a:lstStyle/>
          <a:p>
            <a:pPr algn="ctr"/>
            <a:r>
              <a:rPr sz="2300" b="1">
                <a:solidFill>
                  <a:srgbClr val="FFFFFF"/>
                </a:solidFill>
              </a:rPr>
              <a:t>The full roster, not one cherry-picked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8138160" cy="3771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projects/templates/ holds all 20 public exemplars: template_active_inference, template_autopoiesis, template_autoresearch_project, template_autoscientists, template_code_project, template_eda_notebook, template_formal, template_gold_refinement, template_literature_meta_analysis, template_madlib, template_methods_paper, template_newspaper, template_pitch_deck, template_pools_rules_tools, template_prose_project, template_search_project, template_sia, template_storybook, template_template, template_textbook.</a:t>
            </a:r>
          </a:p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template_active_inference is called out here only as one concrete instance to point to — every name in that list is an independently-built exemplar following the identical two-layer architecture, not a hand-picked best case.</a:t>
            </a:r>
          </a:p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Neither exemplar's coverage gate or drift check required any special-casing to add — the contract is uniform across all 20 projects, and the folder itself is the evidence, not a claim about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234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8F99"/>
                </a:solidFill>
                <a:hlinkClick r:id="rId2"/>
              </a:rPr>
              <a:t>Source: docs/_generated/active_projects.md</a:t>
            </a:r>
          </a:p>
        </p:txBody>
      </p:sp>
      <p:pic>
        <p:nvPicPr>
          <p:cNvPr id="6" name="Picture 5" descr="image.png">
            <a:hlinkClick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/>
          <a:lstStyle/>
          <a:p>
            <a:pPr algn="ctr"/>
            <a:r>
              <a:rPr sz="2400" b="1">
                <a:solidFill>
                  <a:srgbClr val="FFFFFF"/>
                </a:solidFill>
              </a:rPr>
              <a:t>What makes an exemplar 'public'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8138160" cy="3771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A single hand-edited registry (infrastructure/project/public_scope.py) lists every project name in public CI/documentation scope.</a:t>
            </a:r>
          </a:p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Everything else under projects/ (working, ongoing, archive folders) stays local-only by construction, never accidentally published.</a:t>
            </a:r>
          </a:p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An automated confidentiality audit fails CI if a private project path is ever tracked by mistake.</a:t>
            </a:r>
          </a:p>
        </p:txBody>
      </p:sp>
      <p:pic>
        <p:nvPicPr>
          <p:cNvPr id="5" name="Picture 4" descr="image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514600"/>
            <a:ext cx="8138160" cy="38100"/>
          </a:xfrm>
          <a:prstGeom prst="rect">
            <a:avLst/>
          </a:prstGeom>
          <a:solidFill>
            <a:srgbClr val="B3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03120"/>
            <a:ext cx="8138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1">
                <a:solidFill>
                  <a:srgbClr val="0A0A0A"/>
                </a:solidFill>
              </a:rPr>
              <a:t>Governance and confidentiality</a:t>
            </a:r>
          </a:p>
        </p:txBody>
      </p:sp>
      <p:pic>
        <p:nvPicPr>
          <p:cNvPr id="5" name="Picture 4" descr="image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/>
          <a:lstStyle/>
          <a:p>
            <a:pPr algn="ctr"/>
            <a:r>
              <a:rPr sz="2400" b="1">
                <a:solidFill>
                  <a:srgbClr val="FFFFFF"/>
                </a:solidFill>
              </a:rPr>
              <a:t>Public vs. private, by construction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8138160" cy="3771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Only projects/templates/ is public and CI-gated; private working projects render locally through the same pipeline without ever being tracked.</a:t>
            </a:r>
          </a:p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A dedicated audit (scripts/audit/check_tracked_all.py) enforces this on every push, not only at release time.</a:t>
            </a:r>
          </a:p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The same separation pattern that lets a lab keep unpublished work private, while still exercising the identical tested pipeline, day to day.</a:t>
            </a:r>
          </a:p>
        </p:txBody>
      </p:sp>
      <p:pic>
        <p:nvPicPr>
          <p:cNvPr id="5" name="Picture 4" descr="image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/>
          <a:lstStyle/>
          <a:p>
            <a:pPr algn="ctr"/>
            <a:r>
              <a:rPr sz="2400" b="1">
                <a:solidFill>
                  <a:srgbClr val="FFFFFF"/>
                </a:solidFill>
              </a:rPr>
              <a:t>Publishing surface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8138160" cy="3771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A registry of 20 publishing platforms — Zenodo, arXiv, GitHub, PyPI, OSF, Software Heritage, Hugging Face, IPFS, and more — with per-platform automation where an API exists.</a:t>
            </a:r>
          </a:p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Platforms without a submission API (arXiv) are documented as a manual step, not silently skipped or falsely marked complete.</a:t>
            </a:r>
          </a:p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Every 'published' status in a project's README is compiled from that project's own config.yaml, not hand-written prose that can drift out of sync.</a:t>
            </a:r>
          </a:p>
        </p:txBody>
      </p:sp>
      <p:pic>
        <p:nvPicPr>
          <p:cNvPr id="5" name="Picture 4" descr="image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514600"/>
            <a:ext cx="8138160" cy="38100"/>
          </a:xfrm>
          <a:prstGeom prst="rect">
            <a:avLst/>
          </a:prstGeom>
          <a:solidFill>
            <a:srgbClr val="B3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03120"/>
            <a:ext cx="8138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1">
                <a:solidFill>
                  <a:srgbClr val="0A0A0A"/>
                </a:solidFill>
              </a:rPr>
              <a:t>Reproducibility guarantees</a:t>
            </a:r>
          </a:p>
        </p:txBody>
      </p:sp>
      <p:pic>
        <p:nvPicPr>
          <p:cNvPr id="5" name="Picture 4" descr="image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/>
          <a:lstStyle/>
          <a:p>
            <a:pPr algn="ctr"/>
            <a:r>
              <a:rPr sz="2400" b="1">
                <a:solidFill>
                  <a:srgbClr val="FFFFFF"/>
                </a:solidFill>
              </a:rPr>
              <a:t>What reproducible means 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8138160" cy="3771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Fixed RNG seeds and MPLBACKEND=Agg for headless, deterministic figure generation.</a:t>
            </a:r>
          </a:p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Two consecutive pipeline runs against the same repository state produce byte-identical rendered output.</a:t>
            </a:r>
          </a:p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Coverage and test counts are read from a generated report (docs/_generated/COUNTS.md), never hardcoded into prose that could go stale.</a:t>
            </a:r>
          </a:p>
        </p:txBody>
      </p:sp>
      <p:pic>
        <p:nvPicPr>
          <p:cNvPr id="5" name="Picture 4" descr="image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/>
          <a:lstStyle/>
          <a:p>
            <a:pPr algn="ctr"/>
            <a:r>
              <a:rPr sz="2400" b="1">
                <a:solidFill>
                  <a:srgbClr val="FFFFFF"/>
                </a:solidFill>
              </a:rPr>
              <a:t>How you would verify this deck's own claims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8138160" cy="3771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Clone the monorepo, run the same pipeline command shown in this project's README, and regenerate this exact deck.</a:t>
            </a:r>
          </a:p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Diff the regenerated PDF/PPTX against the committed output — a token-honesty test already does this as part of the project's own CI gate.</a:t>
            </a:r>
          </a:p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Nothing in this pitch requires trusting the presenter; it requires running the pipeline.</a:t>
            </a:r>
          </a:p>
        </p:txBody>
      </p:sp>
      <p:pic>
        <p:nvPicPr>
          <p:cNvPr id="5" name="Picture 4" descr="image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514600"/>
            <a:ext cx="8138160" cy="38100"/>
          </a:xfrm>
          <a:prstGeom prst="rect">
            <a:avLst/>
          </a:prstGeom>
          <a:solidFill>
            <a:srgbClr val="B3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03120"/>
            <a:ext cx="8138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>
                <a:solidFill>
                  <a:srgbClr val="0A0A0A"/>
                </a:solidFill>
              </a:rPr>
              <a:t>Scientific integrity, by construction</a:t>
            </a:r>
          </a:p>
        </p:txBody>
      </p:sp>
      <p:pic>
        <p:nvPicPr>
          <p:cNvPr id="5" name="Picture 4" descr="image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/>
          <a:lstStyle/>
          <a:p>
            <a:pPr algn="ctr"/>
            <a:r>
              <a:rPr sz="2400" b="1">
                <a:solidFill>
                  <a:srgbClr val="FFFFFF"/>
                </a:solidFill>
              </a:rPr>
              <a:t>Independent gates, not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8138160" cy="3771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No-mocks testing policy, CI-enforced: scripts/audit/verify_no_mocks.py fails the build if any test imports MagicMock, mocker.patch, or unittest.mock — a checked gate, not a style preference.</a:t>
            </a:r>
          </a:p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Coverage floors are enforced per project (90%) and for shared infrastructure (60%), not averaged away across the monorepo.</a:t>
            </a:r>
          </a:p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A byte-level reproducibility invariant: two renders of identical content in the same environment produce an identical PDF — verified by a real, passing test, not assumed across every OS/toolchain combination.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234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8F99"/>
                </a:solidFill>
                <a:hlinkClick r:id="rId2"/>
              </a:rPr>
              <a:t>Source: tests/infra_tests/rendering/test_slide_deck.py</a:t>
            </a:r>
          </a:p>
        </p:txBody>
      </p:sp>
      <p:pic>
        <p:nvPicPr>
          <p:cNvPr id="6" name="Picture 5" descr="image.png">
            <a:hlinkClick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/>
          <a:lstStyle/>
          <a:p>
            <a:pPr algn="ctr"/>
            <a:r>
              <a:rPr sz="2200" b="1">
                <a:solidFill>
                  <a:srgbClr val="FFFFFF"/>
                </a:solidFill>
              </a:rPr>
              <a:t>The integrity stack, gate by 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234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8F99"/>
                </a:solidFill>
                <a:hlinkClick r:id="rId2"/>
              </a:rPr>
              <a:t>Source: projects/templates/template_pitch_deck/src/token_resolution.py</a:t>
            </a:r>
          </a:p>
        </p:txBody>
      </p:sp>
      <p:pic>
        <p:nvPicPr>
          <p:cNvPr id="5" name="Picture 4" descr="image.png">
            <a:hlinkClick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/>
          <a:lstStyle/>
          <a:p>
            <a:pPr algn="ctr"/>
            <a:r>
              <a:rPr sz="2400" b="1">
                <a:solidFill>
                  <a:srgbClr val="FFFFFF"/>
                </a:solidFill>
              </a:rPr>
              <a:t>Why gates instead of a style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8138160" cy="3771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A style guide is a request; a gate is a build failure — the difference between 'we ask reviewers to check citations' and 'the render script exits non-zero if one is missing'.</a:t>
            </a:r>
          </a:p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Each gate here targets one specific failure mode it was built to catch: a stale token, a cliche phrase, an uncited fact, a non-reproducible artifact.</a:t>
            </a:r>
          </a:p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None of these gates existed before this exemplar needed them — each was added because a real defect surfaced during this project's own development, not speculatively.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234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8F99"/>
                </a:solidFill>
                <a:hlinkClick r:id="rId2"/>
              </a:rPr>
              <a:t>Source: projects/templates/template_pitch_deck/src/diligence_audit.py</a:t>
            </a:r>
          </a:p>
        </p:txBody>
      </p:sp>
      <p:pic>
        <p:nvPicPr>
          <p:cNvPr id="6" name="Picture 5" descr="image.png">
            <a:hlinkClick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/>
          <a:lstStyle/>
          <a:p>
            <a:pPr algn="ctr"/>
            <a:r>
              <a:rPr sz="2400" b="1">
                <a:solidFill>
                  <a:srgbClr val="FFFFFF"/>
                </a:solidFill>
              </a:rPr>
              <a:t>What happens when a gate fails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8138160" cy="3771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scripts/10_audit_deck_content.py exits non-zero on the first unresolved token or cliche hit — the render script never runs against unaudited content.</a:t>
            </a:r>
          </a:p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scripts/30_audit_diligence.py exits non-zero if any fact-bearing slide lacks a source citation — a deck can be complete and still fail to ship.</a:t>
            </a:r>
          </a:p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Fail-closed, not fail-open: an audit that cannot run is treated as a failure, never silently skipped and reported as a pass.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234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8F99"/>
                </a:solidFill>
                <a:hlinkClick r:id="rId2"/>
              </a:rPr>
              <a:t>Source: projects/templates/template_pitch_deck/scripts/10_audit_deck_content.py</a:t>
            </a:r>
          </a:p>
        </p:txBody>
      </p:sp>
      <p:pic>
        <p:nvPicPr>
          <p:cNvPr id="6" name="Picture 5" descr="image.png">
            <a:hlinkClick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/>
          <a:lstStyle/>
          <a:p>
            <a:pPr algn="ctr"/>
            <a:r>
              <a:rPr sz="2400" b="1">
                <a:solidFill>
                  <a:srgbClr val="FFFFFF"/>
                </a:solidFill>
              </a:rPr>
              <a:t>Coverage isn't a headline number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8138160" cy="3771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Every one of 20 public exemplars is measured independently, not summarized into one repo-wide percentage.</a:t>
            </a:r>
          </a:p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The chart on the next slide is generated from the same docs/_generated/COUNTS.md factsheet this deck's own 99.37% figure comes from — one source of truth, two presentations.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234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8F99"/>
                </a:solidFill>
                <a:hlinkClick r:id="rId2"/>
              </a:rPr>
              <a:t>Source: docs/_generated/COUNTS.md</a:t>
            </a:r>
          </a:p>
        </p:txBody>
      </p:sp>
      <p:pic>
        <p:nvPicPr>
          <p:cNvPr id="6" name="Picture 5" descr="image.png">
            <a:hlinkClick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/>
          <a:lstStyle/>
          <a:p>
            <a:pPr algn="ctr"/>
            <a:r>
              <a:rPr sz="2200" b="1">
                <a:solidFill>
                  <a:srgbClr val="FFFFFF"/>
                </a:solidFill>
              </a:rPr>
              <a:t>Per-exemplar coverage, measured live</a:t>
            </a:r>
          </a:p>
        </p:txBody>
      </p:sp>
      <p:pic>
        <p:nvPicPr>
          <p:cNvPr id="4" name="Picture 3" descr="coverage_by_exempl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425611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48234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8F99"/>
                </a:solidFill>
                <a:hlinkClick r:id="rId3"/>
              </a:rPr>
              <a:t>Source: docs/_generated/COUNTS.md</a:t>
            </a:r>
          </a:p>
        </p:txBody>
      </p:sp>
      <p:pic>
        <p:nvPicPr>
          <p:cNvPr id="6" name="Picture 5" descr="image.png">
            <a:hlinkClick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/>
          <a:lstStyle/>
          <a:p>
            <a:pPr algn="ctr"/>
            <a:r>
              <a:rPr sz="2200" b="1">
                <a:solidFill>
                  <a:srgbClr val="FFFFFF"/>
                </a:solidFill>
              </a:rPr>
              <a:t>Test volume and coverage aren't a tradeoff</a:t>
            </a:r>
          </a:p>
        </p:txBody>
      </p:sp>
      <p:pic>
        <p:nvPicPr>
          <p:cNvPr id="4" name="Picture 3" descr="test_count_vs_cove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528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48234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8F99"/>
                </a:solidFill>
                <a:hlinkClick r:id="rId3"/>
              </a:rPr>
              <a:t>Source: docs/_generated/COUNTS.md</a:t>
            </a:r>
          </a:p>
        </p:txBody>
      </p:sp>
      <p:pic>
        <p:nvPicPr>
          <p:cNvPr id="6" name="Picture 5" descr="image.png">
            <a:hlinkClick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/>
          <a:lstStyle/>
          <a:p>
            <a:pPr algn="ctr"/>
            <a:r>
              <a:rPr sz="2400" b="1">
                <a:solidFill>
                  <a:srgbClr val="FFFFFF"/>
                </a:solidFill>
              </a:rPr>
              <a:t>This deck audits itself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8138160" cy="3771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src/token_resolution.py fails the build on any unresolved double-curly-brace placeholder — the same discipline this slide's own template_template token was resolved by.</a:t>
            </a:r>
          </a:p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src/cliche_lint.py and src/diligence_audit.py both run inside render_orchestration.py itself, before that deck length's own PDF/PPTX is written — a slide referencing a live-sourced token with no citation blocks that length's render, it does not just fail a separate, skippable check.</a:t>
            </a:r>
          </a:p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None of these checks are generic infrastructure — they are this project's own src/, built specifically because a pitch deck is exactly the kind of document that tempts unverifiable claims.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234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8F99"/>
                </a:solidFill>
                <a:hlinkClick r:id="rId2"/>
              </a:rPr>
              <a:t>Source: projects/templates/template_pitch_deck/src/diligence_audit.py</a:t>
            </a:r>
          </a:p>
        </p:txBody>
      </p:sp>
      <p:pic>
        <p:nvPicPr>
          <p:cNvPr id="6" name="Picture 5" descr="image.png">
            <a:hlinkClick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/>
          <a:lstStyle/>
          <a:p>
            <a:pPr algn="ctr"/>
            <a:r>
              <a:rPr sz="2400" b="1">
                <a:solidFill>
                  <a:srgbClr val="FFFFFF"/>
                </a:solidFill>
              </a:rPr>
              <a:t>The chain of custody: slide → QR → GitHub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8138160" cy="3771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Every slide in this deck carries its own QR code, linking to a standalone, real Markdown page for that exact slide under output/slides_standalone/.</a:t>
            </a:r>
          </a:p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Once this output/ directory is committed and pushed, a photo of a projected or printed slide can be traced back to its precise source page on GitHub — not just to the deck as a whole. Locally, the generated page already exists; the QR only resolves once it is actually published.</a:t>
            </a:r>
          </a:p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Mechanically, this is the same source-citation system with one more hop: a citation links out to evidence; the QR links to the slide's own generated page, which repeats that same citation.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234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8F99"/>
                </a:solidFill>
                <a:hlinkClick r:id="rId2"/>
              </a:rPr>
              <a:t>Source: projects/templates/template_pitch_deck/src/standalone_slides.py</a:t>
            </a:r>
          </a:p>
        </p:txBody>
      </p:sp>
      <p:pic>
        <p:nvPicPr>
          <p:cNvPr id="6" name="Picture 5" descr="image.png">
            <a:hlinkClick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/>
          <a:lstStyle/>
          <a:p>
            <a:pPr algn="ctr"/>
            <a:r>
              <a:rPr sz="2400" b="1">
                <a:solidFill>
                  <a:srgbClr val="FFFFFF"/>
                </a:solidFill>
              </a:rPr>
              <a:t>Cite this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8138160" cy="3771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This pitch deck is its own exemplar in the same monorepo — it has its own src/, tests, and citable identity, distinct from the DOI of template_template, the project it pitches.</a:t>
            </a:r>
          </a:p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This deck's own DOI: not yet reserved — no Zenodo deposit on file for this deck.</a:t>
            </a:r>
          </a:p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That status is read live from this project's own manuscript/config.yaml at render time — the moment a real Zenodo deposit is recorded there, this slide's own text updates on the next regeneration, the same way every other fact in this deck does.</a:t>
            </a:r>
          </a:p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A DOI is reserved through the same infrastructure.publishing pipeline every other exemplar in this monorepo uses — nothing deck-specific to build, only a deposit to make.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234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8F99"/>
                </a:solidFill>
                <a:hlinkClick r:id="rId2"/>
              </a:rPr>
              <a:t>Source: projects/templates/template_pitch_deck/manuscript/config.yaml</a:t>
            </a:r>
          </a:p>
        </p:txBody>
      </p:sp>
      <p:pic>
        <p:nvPicPr>
          <p:cNvPr id="6" name="Picture 5" descr="image.png">
            <a:hlinkClick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514600"/>
            <a:ext cx="8138160" cy="38100"/>
          </a:xfrm>
          <a:prstGeom prst="rect">
            <a:avLst/>
          </a:prstGeom>
          <a:solidFill>
            <a:srgbClr val="B3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03120"/>
            <a:ext cx="8138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A0A0A"/>
                </a:solidFill>
              </a:rPr>
              <a:t>What's actually inside infrastructure/</a:t>
            </a:r>
          </a:p>
        </p:txBody>
      </p:sp>
      <p:pic>
        <p:nvPicPr>
          <p:cNvPr id="5" name="Picture 4" descr="image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/>
          <a:lstStyle/>
          <a:p>
            <a:pPr algn="ctr"/>
            <a:r>
              <a:rPr sz="2400" b="1">
                <a:solidFill>
                  <a:srgbClr val="FFFFFF"/>
                </a:solidFill>
              </a:rPr>
              <a:t>Not a black box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8138160" cy="3771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25 importable subpackages, 668 tracked Python files total under infrastructure/ — a real inventory anyone can `git ls-files` themselves, not a claimed abstraction.</a:t>
            </a:r>
          </a:p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The largest single subpackage, core, holds 112 files — still a minority of the whole, not a monolith wearing a modular label.</a:t>
            </a:r>
          </a:p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Every number on this slide is computed live by src/infra_facts.py at render time, reusing the exact same counters docs/_generated/COUNTS.md is built from.</a:t>
            </a:r>
          </a:p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The chart on the next slide shows a slightly narrower total — it only counts files inside an importable subpackage, excluding 2 top-level file(s) (infrastructure/__init__.py, mcp_server.py) that do not belong to any subpackage.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234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8F99"/>
                </a:solidFill>
                <a:hlinkClick r:id="rId2"/>
              </a:rPr>
              <a:t>Source: projects/templates/template_pitch_deck/src/infra_facts.py</a:t>
            </a:r>
          </a:p>
        </p:txBody>
      </p:sp>
      <p:pic>
        <p:nvPicPr>
          <p:cNvPr id="6" name="Picture 5" descr="image.png">
            <a:hlinkClick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/>
          <a:lstStyle/>
          <a:p>
            <a:pPr algn="ctr"/>
            <a:r>
              <a:rPr sz="2200" b="1">
                <a:solidFill>
                  <a:srgbClr val="FFFFFF"/>
                </a:solidFill>
              </a:rPr>
              <a:t>infrastructure/, by subpackage</a:t>
            </a:r>
          </a:p>
        </p:txBody>
      </p:sp>
      <p:pic>
        <p:nvPicPr>
          <p:cNvPr id="4" name="Picture 3" descr="infra_subpackage_siz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7315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48234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8F99"/>
                </a:solidFill>
                <a:hlinkClick r:id="rId3"/>
              </a:rPr>
              <a:t>Source: projects/templates/template_pitch_deck/src/infra_facts.py</a:t>
            </a:r>
          </a:p>
        </p:txBody>
      </p:sp>
      <p:pic>
        <p:nvPicPr>
          <p:cNvPr id="6" name="Picture 5" descr="image.png">
            <a:hlinkClick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/>
          <a:lstStyle/>
          <a:p>
            <a:pPr algn="ctr"/>
            <a:r>
              <a:rPr sz="2400" b="1">
                <a:solidFill>
                  <a:srgbClr val="FFFFFF"/>
                </a:solidFill>
              </a:rPr>
              <a:t>Why partition it this 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8138160" cy="3771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Each subpackage boundary matches a real reuse boundary: rendering/, validation/, publishing/, provenance/ each solve one generic problem every exemplar needs, independent of any project's domain logic.</a:t>
            </a:r>
          </a:p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A change inside one subpackage cannot silently reach into another without an explicit import — the boundary is enforced by the drift check, not just convention.</a:t>
            </a:r>
          </a:p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This is the same two-layer split described earlier in this deck, now shown at the resolution of individual subpackages instead of the whole layer.</a:t>
            </a:r>
          </a:p>
        </p:txBody>
      </p:sp>
      <p:pic>
        <p:nvPicPr>
          <p:cNvPr id="5" name="Picture 4" descr="image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514600"/>
            <a:ext cx="8138160" cy="38100"/>
          </a:xfrm>
          <a:prstGeom prst="rect">
            <a:avLst/>
          </a:prstGeom>
          <a:solidFill>
            <a:srgbClr val="B3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03120"/>
            <a:ext cx="8138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1">
                <a:solidFill>
                  <a:srgbClr val="0A0A0A"/>
                </a:solidFill>
              </a:rPr>
              <a:t>Roadmap</a:t>
            </a:r>
          </a:p>
        </p:txBody>
      </p:sp>
      <p:pic>
        <p:nvPicPr>
          <p:cNvPr id="5" name="Picture 4" descr="image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/>
          <a:lstStyle/>
          <a:p>
            <a:pPr algn="ctr"/>
            <a:r>
              <a:rPr sz="2400" b="1">
                <a:solidFill>
                  <a:srgbClr val="FFFFFF"/>
                </a:solidFill>
              </a:rPr>
              <a:t>What comes next for this exemplar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8138160" cy="3771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Extend token-sourced facts beyond one pitch subject to any exemplar in the roster, so a new deck for a different project needs only new content YAML, not new code.</a:t>
            </a:r>
          </a:p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Add a second validated pitch (a broader meta-science-group deck) reusing the same rendering and audit pipeline.</a:t>
            </a:r>
          </a:p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Track deck-generation coverage and drift in the same CI gates that already watch every other public exemplar.</a:t>
            </a:r>
          </a:p>
        </p:txBody>
      </p:sp>
      <p:pic>
        <p:nvPicPr>
          <p:cNvPr id="5" name="Picture 4" descr="image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/>
          <a:lstStyle/>
          <a:p>
            <a:pPr algn="ctr"/>
            <a:r>
              <a:rPr sz="2300" b="1">
                <a:solidFill>
                  <a:srgbClr val="FFFFFF"/>
                </a:solidFill>
              </a:rPr>
              <a:t>Where this could go next for your organization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8138160" cy="3771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A grant-report deck generated the same way a manuscript is — bound to the same project data your team already tracks.</a:t>
            </a:r>
          </a:p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A recurring quarterly-update deck that regenerates instead of being rebuilt from scratch each cycle.</a:t>
            </a:r>
          </a:p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A shared content schema across your organization's decks, so a house style survives staff turnover.</a:t>
            </a:r>
          </a:p>
        </p:txBody>
      </p:sp>
      <p:pic>
        <p:nvPicPr>
          <p:cNvPr id="5" name="Picture 4" descr="image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/>
          <a:lstStyle/>
          <a:p>
            <a:pPr algn="ctr"/>
            <a:r>
              <a:rPr sz="2400" b="1">
                <a:solidFill>
                  <a:srgbClr val="FFFFFF"/>
                </a:solidFill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8138160" cy="3771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Adopt this pattern for your own methods papers: bind every reported number to the code that produced it, not to a hand-typed table.</a:t>
            </a:r>
          </a:p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Pilot it on one existing manuscript in your group before committing to a full rewrite.</a:t>
            </a:r>
          </a:p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Happy to pair with your team through a first regeneration cycle and help define your own introspection surface, if useful — no prior engagements to point to yet, this pattern is newly forkable.</a:t>
            </a:r>
          </a:p>
        </p:txBody>
      </p:sp>
      <p:pic>
        <p:nvPicPr>
          <p:cNvPr id="5" name="Picture 4" descr="image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/>
          <a:lstStyle/>
          <a:p>
            <a:pPr algn="ctr"/>
            <a:r>
              <a:rPr sz="2400" b="1">
                <a:solidFill>
                  <a:srgbClr val="FFFFFF"/>
                </a:solidFill>
              </a:rPr>
              <a:t>Funding &amp; consulting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8138160" cy="3771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The code itself is available to adopt directly today — real, tested, and licensed for reuse, no engagement required to start.</a:t>
            </a:r>
          </a:p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Open to funding conversations for a dedicated integration (a new pitch subject, a distinct theme, a deeper introspection surface) — no such engagement exists yet, this is an invitation to scope one, not an established program.</a:t>
            </a:r>
          </a:p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Open to scoping a consulting engagement on request — pairing through a first regeneration cycle, or adapting the two-layer architecture to an existing codebase outside this monorepo. No such engagement has happened yet; this is an invitation, not a track record.</a:t>
            </a:r>
          </a:p>
        </p:txBody>
      </p:sp>
      <p:pic>
        <p:nvPicPr>
          <p:cNvPr id="5" name="Picture 4" descr="image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514600"/>
            <a:ext cx="8138160" cy="38100"/>
          </a:xfrm>
          <a:prstGeom prst="rect">
            <a:avLst/>
          </a:prstGeom>
          <a:solidFill>
            <a:srgbClr val="B3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03120"/>
            <a:ext cx="8138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1">
                <a:solidFill>
                  <a:srgbClr val="0A0A0A"/>
                </a:solidFill>
              </a:rPr>
              <a:t>Appendix</a:t>
            </a:r>
          </a:p>
        </p:txBody>
      </p:sp>
      <p:pic>
        <p:nvPicPr>
          <p:cNvPr id="5" name="Picture 4" descr="image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/>
          <a:lstStyle/>
          <a:p>
            <a:pPr algn="ctr"/>
            <a:r>
              <a:rPr sz="2400" b="1">
                <a:solidFill>
                  <a:srgbClr val="FFFFFF"/>
                </a:solidFill>
              </a:rPr>
              <a:t>Glossary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8138160" cy="3771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Autopoietic — a system that regenerates its own description from its own live state, rather than from a fixed snapshot.</a:t>
            </a:r>
          </a:p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Thin orchestrator — a script that coordinates infrastructure/ and src/ calls but contains no business logic itself.</a:t>
            </a:r>
          </a:p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Coverage floor — the minimum percentage of source lines a test suite must exercise before the pipeline is allowed to proceed.</a:t>
            </a:r>
          </a:p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No-mocks policy — a testing rule requiring real files, real data, and real computation instead of simulated objects.</a:t>
            </a:r>
          </a:p>
        </p:txBody>
      </p:sp>
      <p:pic>
        <p:nvPicPr>
          <p:cNvPr id="5" name="Picture 4" descr="image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/>
          <a:lstStyle/>
          <a:p>
            <a:pPr algn="ctr"/>
            <a:r>
              <a:rPr sz="2400" b="1">
                <a:solidFill>
                  <a:srgbClr val="FFFFFF"/>
                </a:solidFill>
              </a:rPr>
              <a:t>Citation and contact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8138160" cy="3771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Concept DOI: 10.5281/zenodo.20419007.</a:t>
            </a:r>
          </a:p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Repository: docxology/template_template, licensed Apache-2.0.</a:t>
            </a:r>
          </a:p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This deck itself: projects/templates/template_pitch_deck in the same monorepo.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234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8F99"/>
                </a:solidFill>
                <a:hlinkClick r:id="rId2"/>
              </a:rPr>
              <a:t>Source: projects/templates/template_template/manuscript/config.yaml</a:t>
            </a:r>
          </a:p>
        </p:txBody>
      </p:sp>
      <p:pic>
        <p:nvPicPr>
          <p:cNvPr id="6" name="Picture 5" descr="image.png">
            <a:hlinkClick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554480"/>
            <a:ext cx="109728" cy="1737360"/>
          </a:xfrm>
          <a:prstGeom prst="rect">
            <a:avLst/>
          </a:prstGeom>
          <a:solidFill>
            <a:srgbClr val="B3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81381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0"/>
            <a:ext cx="8138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C9C9C9"/>
                </a:solidFill>
              </a:rPr>
              <a:t>Research infrastructure that documents itself — a case study for meta-science and science-integrity teams</a:t>
            </a:r>
          </a:p>
        </p:txBody>
      </p:sp>
      <p:pic>
        <p:nvPicPr>
          <p:cNvPr id="6" name="Picture 5" descr="image.png">
            <a:hlinkClick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